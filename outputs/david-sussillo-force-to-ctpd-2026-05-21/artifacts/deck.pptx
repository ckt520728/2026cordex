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DCAA5"/>
                </a:solidFill>
                <a:latin typeface="Microsoft JhengHei"/>
              </a:rPr>
              <a:t>COMPUTATIONAL NEUROSCIENCE · 60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AF9F5"/>
                </a:solidFill>
                <a:latin typeface="Microsoft JhengHei"/>
              </a:rPr>
              <a:t>從 FORCE 到 Population Dynamics</a:t>
            </a:r>
          </a:p>
          <a:p>
            <a:pPr algn="ctr"/>
            <a:r>
              <a:rPr sz="2400" b="0">
                <a:solidFill>
                  <a:srgbClr val="C2C0B6"/>
                </a:solidFill>
                <a:latin typeface="Microsoft JhengHei"/>
              </a:rPr>
              <a:t>一個演算法如何翻轉我們理解大腦的方式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4023360"/>
            <a:ext cx="91440" cy="1554480"/>
          </a:xfrm>
          <a:prstGeom prst="rect">
            <a:avLst/>
          </a:prstGeom>
          <a:solidFill>
            <a:srgbClr val="AFA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023360"/>
            <a:ext cx="96926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AF9F5"/>
                </a:solidFill>
                <a:latin typeface="Microsoft JhengHei"/>
              </a:rPr>
              <a:t>FORCE 不是演算法升級，而是讓 RNN 從「無法馴服的混沌」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FAF9F5"/>
                </a:solidFill>
                <a:latin typeface="Microsoft JhengHei"/>
              </a:rPr>
              <a:t>變成「可解剖的動力系統」——這個翻轉，生出了 CTPD 框架。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2C0B6"/>
                </a:solidFill>
                <a:latin typeface="Microsoft JhengHei"/>
              </a:rPr>
              <a:t>重讀 David Sussillo 研究主線 · 並親手把它跑一遍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Hook：1000 個神經元的沉默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5303520" cy="2377440"/>
          </a:xfrm>
          <a:prstGeom prst="rect">
            <a:avLst/>
          </a:prstGeom>
          <a:solidFill>
            <a:srgbClr val="1A1815"/>
          </a:solidFill>
          <a:ln w="15240">
            <a:solidFill>
              <a:srgbClr val="5DCA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5DCAA5"/>
                </a:solidFill>
                <a:latin typeface="Microsoft JhengHei"/>
              </a:rPr>
              <a:t>我們能記錄的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同時記錄上千個神經元：array、雙光子、Neuropixels…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2377440"/>
            <a:ext cx="5303520" cy="2377440"/>
          </a:xfrm>
          <a:prstGeom prst="rect">
            <a:avLst/>
          </a:prstGeom>
          <a:solidFill>
            <a:srgbClr val="1A1815"/>
          </a:solidFill>
          <a:ln w="15240">
            <a:solidFill>
              <a:srgbClr val="F09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F0997B"/>
                </a:solidFill>
                <a:latin typeface="Microsoft JhengHei"/>
              </a:rPr>
              <a:t>我們能理解的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把 tuning curve 一條條畫出，面對前額葉高維時間動態——卡住。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846320"/>
            <a:ext cx="91440" cy="1554480"/>
          </a:xfrm>
          <a:prstGeom prst="rect">
            <a:avLst/>
          </a:prstGeom>
          <a:solidFill>
            <a:srgbClr val="F09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846320"/>
            <a:ext cx="96926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AF9F5"/>
                </a:solidFill>
                <a:latin typeface="Microsoft JhengHei"/>
              </a:rPr>
              <a:t>記錄變多，理解沒等比例變多。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FAF9F5"/>
                </a:solidFill>
                <a:latin typeface="Microsoft JhengHei"/>
              </a:rPr>
              <a:t>single-neuron tuning curve 不夠用了。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本場的 One Big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3383280" cy="1463040"/>
          </a:xfrm>
          <a:prstGeom prst="rect">
            <a:avLst/>
          </a:prstGeom>
          <a:solidFill>
            <a:srgbClr val="1A1815"/>
          </a:solidFill>
          <a:ln w="19050">
            <a:solidFill>
              <a:srgbClr val="5DCA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700" b="1">
                <a:solidFill>
                  <a:srgbClr val="5DCAA5"/>
                </a:solidFill>
                <a:latin typeface="Microsoft JhengHei"/>
              </a:rPr>
              <a:t>工具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混沌  →  可訓練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2C0B6"/>
                </a:solidFill>
                <a:latin typeface="Microsoft JhengHei"/>
              </a:rPr>
              <a:t>FORCE 2009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377440"/>
            <a:ext cx="3383280" cy="1463040"/>
          </a:xfrm>
          <a:prstGeom prst="rect">
            <a:avLst/>
          </a:prstGeom>
          <a:solidFill>
            <a:srgbClr val="1A1815"/>
          </a:solidFill>
          <a:ln w="19050">
            <a:solidFill>
              <a:srgbClr val="AFA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700" b="1">
                <a:solidFill>
                  <a:srgbClr val="AFA9EC"/>
                </a:solidFill>
                <a:latin typeface="Microsoft JhengHei"/>
              </a:rPr>
              <a:t>動力系統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黑盒  →  可解剖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2C0B6"/>
                </a:solidFill>
                <a:latin typeface="Microsoft JhengHei"/>
              </a:rPr>
              <a:t>Black Box 2013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2377440"/>
            <a:ext cx="3383280" cy="1463040"/>
          </a:xfrm>
          <a:prstGeom prst="rect">
            <a:avLst/>
          </a:prstGeom>
          <a:solidFill>
            <a:srgbClr val="1A1815"/>
          </a:solidFill>
          <a:ln w="19050">
            <a:solidFill>
              <a:srgbClr val="EF9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700" b="1">
                <a:solidFill>
                  <a:srgbClr val="EF9F27"/>
                </a:solidFill>
                <a:latin typeface="Microsoft JhengHei"/>
              </a:rPr>
              <a:t>框架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方法  →  典範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2C0B6"/>
                </a:solidFill>
                <a:latin typeface="Microsoft JhengHei"/>
              </a:rPr>
              <a:t>CTPD 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AF9F5"/>
                </a:solidFill>
                <a:latin typeface="Microsoft JhengHei"/>
              </a:rPr>
              <a:t>今天就講清楚這條翻轉是怎麼發生的。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今天的路線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FAF9F5"/>
                </a:solidFill>
                <a:latin typeface="Microsoft JhengHei"/>
              </a:rPr>
              <a:t>•  1  FORCE 的數學核心 — 為何誤差從頭就小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FAF9F5"/>
                </a:solidFill>
                <a:latin typeface="Microsoft JhengHei"/>
              </a:rPr>
              <a:t>•  2  樞紐轉折 — 打開黑盒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FAF9F5"/>
                </a:solidFill>
                <a:latin typeface="Microsoft JhengHei"/>
              </a:rPr>
              <a:t>•  3  四個轉折路線圖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FAF9F5"/>
                </a:solidFill>
                <a:latin typeface="Microsoft JhengHei"/>
              </a:rPr>
              <a:t>•  4  親手重現 — FORCE 模擬 + fixed-point 分析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FAF9F5"/>
                </a:solidFill>
                <a:latin typeface="Microsoft JhengHei"/>
              </a:rPr>
              <a:t>•  5  收斂到 CTPD + 批判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2C0B6"/>
                </a:solidFill>
                <a:latin typeface="Microsoft JhengHei"/>
              </a:rPr>
              <a:t>★ 含三個親手跑的 numpy 實驗（零捏造）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DCAA5"/>
                </a:solidFill>
                <a:latin typeface="Microsoft JhengHe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混沌 RNN 的困境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AF9F5"/>
                </a:solidFill>
                <a:latin typeface="Microsoft JhengHei"/>
              </a:rPr>
              <a:t>把輸出誤差回饋進遞迴網路 → 回饋反覆放大（reverberating）→ 訓練發散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40480"/>
            <a:ext cx="5303520" cy="2011680"/>
          </a:xfrm>
          <a:prstGeom prst="rect">
            <a:avLst/>
          </a:prstGeom>
          <a:solidFill>
            <a:srgbClr val="1A1815"/>
          </a:solidFill>
          <a:ln w="15240">
            <a:solidFill>
              <a:srgbClr val="EF9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EF9F27"/>
                </a:solidFill>
                <a:latin typeface="Microsoft JhengHei"/>
              </a:rPr>
              <a:t>前人（echo-state）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刻意讓網路無輸入時靜止才能訓 → 犧牲混沌動態。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3840480"/>
            <a:ext cx="5303520" cy="2011680"/>
          </a:xfrm>
          <a:prstGeom prst="rect">
            <a:avLst/>
          </a:prstGeom>
          <a:solidFill>
            <a:srgbClr val="1A1815"/>
          </a:solidFill>
          <a:ln w="15240">
            <a:solidFill>
              <a:srgbClr val="5DCA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5DCAA5"/>
                </a:solidFill>
                <a:latin typeface="Microsoft JhengHei"/>
              </a:rPr>
              <a:t>FORCE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保留混沌，在訓練中主動壓制它。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轉折 1：混沌 bug → feature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377440"/>
            <a:ext cx="91440" cy="1554480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AF9F5"/>
                </a:solidFill>
                <a:latin typeface="Microsoft JhengHei"/>
              </a:rPr>
              <a:t>FORCE 保留混沌的自發活動，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FAF9F5"/>
                </a:solidFill>
                <a:latin typeface="Microsoft JhengHei"/>
              </a:rPr>
              <a:t>用強而快的突觸修改在訓練早期壓制它。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2C0B6"/>
                </a:solidFill>
                <a:latin typeface="Microsoft JhengHei"/>
              </a:rPr>
              <a:t>關鍵：回饋訊號 ≈ f(t)，振幅夠時可誘導 chaotic → nonchaotic transition。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核心設定（式 1–3）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5DCAA5"/>
                </a:solidFill>
                <a:latin typeface="Microsoft JhengHei"/>
              </a:rPr>
              <a:t>z(t) = wᵀ r(t)              … (1)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AF9F5"/>
                </a:solidFill>
                <a:latin typeface="Microsoft JhengHei"/>
              </a:rPr>
              <a:t>e₋(t) = wᵀ(t−Δt) r(t) − f(t)   … (2)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5DCAA5"/>
                </a:solidFill>
                <a:latin typeface="Microsoft JhengHei"/>
              </a:rPr>
              <a:t>e₊(t) = wᵀ(t) r(t) − f(t)      … (3)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2C0B6"/>
                </a:solidFill>
                <a:latin typeface="Microsoft JhengHei"/>
              </a:rPr>
              <a:t>輸出是 firing rate 的線性讀出；分別記更新「前」與「後」的誤差。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9F27"/>
                </a:solidFill>
                <a:latin typeface="Microsoft JhengHei"/>
              </a:rPr>
              <a:t>Check-Point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FORCE 與一般 gradient descent 最大差異是？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FAF9F5"/>
                </a:solidFill>
                <a:latin typeface="Microsoft JhengHei"/>
              </a:rPr>
              <a:t>A. 用更大的 batch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FAF9F5"/>
                </a:solidFill>
                <a:latin typeface="Microsoft JhengHei"/>
              </a:rPr>
              <a:t>B. 學習率調更小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5DCAA5"/>
                </a:solidFill>
                <a:latin typeface="Microsoft JhengHei"/>
              </a:rPr>
              <a:t>C. 誤差全程維持很小，而非由大慢慢縮小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FAF9F5"/>
                </a:solidFill>
                <a:latin typeface="Microsoft JhengHei"/>
              </a:rPr>
              <a:t>D. 不需要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2C0B6"/>
                </a:solidFill>
                <a:latin typeface="Microsoft JhengHei"/>
              </a:rPr>
              <a:t>（討論題）答案 C：FORCE 不走「減小大誤差」，而是「維持小誤差」。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RLS 更新式與 P 矩陣（式 4–6）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400"/>
              </a:spcAft>
            </a:pPr>
            <a:r>
              <a:rPr sz="2200" b="0">
                <a:solidFill>
                  <a:srgbClr val="5DCAA5"/>
                </a:solidFill>
                <a:latin typeface="Microsoft JhengHei"/>
              </a:rPr>
              <a:t>w(t) = w(t−Δt) − e₋(t) P(t) r(t)        … (4)</a:t>
            </a:r>
          </a:p>
          <a:p>
            <a:pPr algn="ctr">
              <a:spcAft>
                <a:spcPts val="1400"/>
              </a:spcAft>
            </a:pPr>
            <a:r>
              <a:rPr sz="2200" b="0">
                <a:solidFill>
                  <a:srgbClr val="FAF9F5"/>
                </a:solidFill>
                <a:latin typeface="Microsoft JhengHei"/>
              </a:rPr>
              <a:t>P(t) = P − (P r rᵀ P)/(1 + rᵀ P r),  P(0)=I/α   … (5,6)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06240"/>
            <a:ext cx="5303520" cy="1737360"/>
          </a:xfrm>
          <a:prstGeom prst="rect">
            <a:avLst/>
          </a:prstGeom>
          <a:solidFill>
            <a:srgbClr val="1A1815"/>
          </a:solidFill>
          <a:ln w="15240">
            <a:solidFill>
              <a:srgbClr val="AFA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AFA9EC"/>
                </a:solidFill>
                <a:latin typeface="Microsoft JhengHei"/>
              </a:rPr>
              <a:t>P ≈ 相關矩陣的逆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= 二階（Newton-like）更新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4206240"/>
            <a:ext cx="5303520" cy="1737360"/>
          </a:xfrm>
          <a:prstGeom prst="rect">
            <a:avLst/>
          </a:prstGeom>
          <a:solidFill>
            <a:srgbClr val="1A1815"/>
          </a:solidFill>
          <a:ln w="15240">
            <a:solidFill>
              <a:srgbClr val="EF9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EF9F27"/>
                </a:solidFill>
                <a:latin typeface="Microsoft JhengHei"/>
              </a:rPr>
              <a:t>每個突觸有自己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隨資料調整的有效步長（非純量學習率）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為何誤差從頭就小（式 7–8）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5DCAA5"/>
                </a:solidFill>
                <a:latin typeface="Microsoft JhengHei"/>
              </a:rPr>
              <a:t>e₋(Δt) = −α f / (α + rᵀr),   rᵀr ~ O(N)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AF9F5"/>
                </a:solidFill>
                <a:latin typeface="Microsoft JhengHei"/>
              </a:rPr>
              <a:t>e₊(t) = e₋(t) · (1 − rᵀ P 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AF9F5"/>
                </a:solidFill>
                <a:latin typeface="Microsoft JhengHei"/>
              </a:rPr>
              <a:t>•  α≪N → 第一步誤差 ≈ −αf/N，極小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AF9F5"/>
                </a:solidFill>
                <a:latin typeface="Microsoft JhengHei"/>
              </a:rPr>
              <a:t>•  rᵀPr：初期≈1（e₊≈0）→ 後期→0（收斂）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AF9F5"/>
                </a:solidFill>
                <a:latin typeface="Microsoft JhengHei"/>
              </a:rPr>
              <a:t>•  誤差全程小 → 回饋擾動小 → 混沌被壓住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FA9EC"/>
                </a:solidFill>
                <a:latin typeface="Microsoft JhengHe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訓練好了，然後呢？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600" b="1">
                <a:solidFill>
                  <a:srgbClr val="FAF9F5"/>
                </a:solidFill>
                <a:latin typeface="Microsoft JhengHei"/>
              </a:rPr>
              <a:t>輸入  →   ?   →  正確輸出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206240"/>
            <a:ext cx="91440" cy="1554480"/>
          </a:xfrm>
          <a:prstGeom prst="rect">
            <a:avLst/>
          </a:prstGeom>
          <a:solidFill>
            <a:srgbClr val="AFA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206240"/>
            <a:ext cx="96926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AF9F5"/>
                </a:solidFill>
                <a:latin typeface="Microsoft JhengHei"/>
              </a:rPr>
              <a:t>監督式訓練規定了「做什麼」，卻沒規定「怎麼做」。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FAF9F5"/>
                </a:solidFill>
                <a:latin typeface="Microsoft JhengHei"/>
              </a:rPr>
              <a:t>網路成了黑盒。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關鍵洞見（轉折 2）★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377440"/>
            <a:ext cx="91440" cy="1554480"/>
          </a:xfrm>
          <a:prstGeom prst="rect">
            <a:avLst/>
          </a:prstGeom>
          <a:solidFill>
            <a:srgbClr val="AFA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AF9F5"/>
                </a:solidFill>
                <a:latin typeface="Microsoft JhengHei"/>
              </a:rPr>
              <a:t>「怎麼做」就是一個可研究的科學問題。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FAF9F5"/>
                </a:solidFill>
                <a:latin typeface="Microsoft JhengHei"/>
              </a:rPr>
              <a:t>把訓練好的 RNN 當非線性動力系統 (NLDS) 來逆向工程。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2C0B6"/>
                </a:solidFill>
                <a:latin typeface="Microsoft JhengHei"/>
              </a:rPr>
              <a:t>Sussillo &amp; Barak 2013 · Opening the Black Box · 整條演化的支點。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動力系統語言入門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2468880" cy="2377440"/>
          </a:xfrm>
          <a:prstGeom prst="rect">
            <a:avLst/>
          </a:prstGeom>
          <a:solidFill>
            <a:srgbClr val="1A1815"/>
          </a:solidFill>
          <a:ln w="15240">
            <a:solidFill>
              <a:srgbClr val="EF9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EF9F27"/>
                </a:solidFill>
                <a:latin typeface="Microsoft JhengHei"/>
              </a:rPr>
              <a:t>State space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每軸一個神經元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2377440"/>
            <a:ext cx="2468880" cy="2377440"/>
          </a:xfrm>
          <a:prstGeom prst="rect">
            <a:avLst/>
          </a:prstGeom>
          <a:solidFill>
            <a:srgbClr val="1A1815"/>
          </a:solidFill>
          <a:ln w="15240">
            <a:solidFill>
              <a:srgbClr val="EF9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EF9F27"/>
                </a:solidFill>
                <a:latin typeface="Microsoft JhengHei"/>
              </a:rPr>
              <a:t>Trajectory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狀態隨時間的路徑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2377440"/>
            <a:ext cx="2468880" cy="2377440"/>
          </a:xfrm>
          <a:prstGeom prst="rect">
            <a:avLst/>
          </a:prstGeom>
          <a:solidFill>
            <a:srgbClr val="1A1815"/>
          </a:solidFill>
          <a:ln w="15240">
            <a:solidFill>
              <a:srgbClr val="EF9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EF9F27"/>
                </a:solidFill>
                <a:latin typeface="Microsoft JhengHei"/>
              </a:rPr>
              <a:t>Flow field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每點往哪走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2377440"/>
            <a:ext cx="2468880" cy="2377440"/>
          </a:xfrm>
          <a:prstGeom prst="rect">
            <a:avLst/>
          </a:prstGeom>
          <a:solidFill>
            <a:srgbClr val="1A1815"/>
          </a:solidFill>
          <a:ln w="15240">
            <a:solidFill>
              <a:srgbClr val="AFA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AFA9EC"/>
                </a:solidFill>
                <a:latin typeface="Microsoft JhengHei"/>
              </a:rPr>
              <a:t>Fixed/slow point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速度≈0 的點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2C0B6"/>
                </a:solidFill>
                <a:latin typeface="Microsoft JhengHei"/>
              </a:rPr>
              <a:t>鐘擺（位置×速度）→ 神經群體（N 維狀態）的同一套語言。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Fixed points 與 slow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FAF9F5"/>
                </a:solidFill>
                <a:latin typeface="Microsoft JhengHei"/>
              </a:rPr>
              <a:t>•  在相空間找速度近乎為零的點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FAF9F5"/>
                </a:solidFill>
                <a:latin typeface="Microsoft JhengHei"/>
              </a:rPr>
              <a:t>•  對該點做線性化（Jacobian）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FAF9F5"/>
                </a:solidFill>
                <a:latin typeface="Microsoft JhengHei"/>
              </a:rPr>
              <a:t>•  特徵值 → 穩定 / 不穩定方向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FAF9F5"/>
                </a:solidFill>
                <a:latin typeface="Microsoft JhengHei"/>
              </a:rPr>
              <a:t>•  由幾何結構反推網路如何運算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2C0B6"/>
                </a:solidFill>
                <a:latin typeface="Microsoft JhengHei"/>
              </a:rPr>
              <a:t>逆向工程三例：3-bit flip-flop、sine generator、2-point average — 機制皆可被讀出。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這一步為何是樞紐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377440"/>
            <a:ext cx="91440" cy="1554480"/>
          </a:xfrm>
          <a:prstGeom prst="rect">
            <a:avLst/>
          </a:prstGeom>
          <a:solidFill>
            <a:srgbClr val="AFA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AF9F5"/>
                </a:solidFill>
                <a:latin typeface="Microsoft JhengHei"/>
              </a:rPr>
              <a:t>從「會動」到「能讀懂」。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3272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AF9F5"/>
                </a:solidFill>
                <a:latin typeface="Microsoft JhengHei"/>
              </a:rPr>
              <a:t>沒有它，FORCE 只是工程技巧；</a:t>
            </a:r>
          </a:p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AF9F5"/>
                </a:solidFill>
                <a:latin typeface="Microsoft JhengHei"/>
              </a:rPr>
              <a:t>有了它，RNN 成為能生成假設的動力系統模型。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2C0B6"/>
                </a:solidFill>
                <a:latin typeface="Microsoft JhengHei"/>
              </a:rPr>
              <a:t>Sussillo &amp; Barak 2013, Neural Computation — 後續一切的支點。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9F27"/>
                </a:solidFill>
                <a:latin typeface="Microsoft JhengHe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四個轉折：FORCE → CTPD 全景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972800" cy="960120"/>
          </a:xfrm>
          <a:prstGeom prst="rect">
            <a:avLst/>
          </a:prstGeom>
          <a:solidFill>
            <a:srgbClr val="1A1815"/>
          </a:solidFill>
          <a:ln w="19050">
            <a:solidFill>
              <a:srgbClr val="5DCA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700" b="1">
                <a:solidFill>
                  <a:srgbClr val="5DCAA5"/>
                </a:solidFill>
                <a:latin typeface="Microsoft JhengHei"/>
              </a:rPr>
              <a:t>轉折 1 ｜ 混沌 bug→feature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保留混沌  →  主動壓制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2C0B6"/>
                </a:solidFill>
                <a:latin typeface="Microsoft JhengHei"/>
              </a:rPr>
              <a:t>FORCE 2009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88920"/>
            <a:ext cx="10972800" cy="960120"/>
          </a:xfrm>
          <a:prstGeom prst="rect">
            <a:avLst/>
          </a:prstGeom>
          <a:solidFill>
            <a:srgbClr val="1A1815"/>
          </a:solidFill>
          <a:ln w="19050">
            <a:solidFill>
              <a:srgbClr val="AFA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700" b="1">
                <a:solidFill>
                  <a:srgbClr val="AFA9EC"/>
                </a:solidFill>
                <a:latin typeface="Microsoft JhengHei"/>
              </a:rPr>
              <a:t>轉折 2 ｜ 本體論翻轉 ★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黑盒工具  →  可逆向工程的 NLDS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2C0B6"/>
                </a:solidFill>
                <a:latin typeface="Microsoft JhengHei"/>
              </a:rPr>
              <a:t>Black Box 2013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840480"/>
            <a:ext cx="10972800" cy="960120"/>
          </a:xfrm>
          <a:prstGeom prst="rect">
            <a:avLst/>
          </a:prstGeom>
          <a:solidFill>
            <a:srgbClr val="1A1815"/>
          </a:solidFill>
          <a:ln w="19050">
            <a:solidFill>
              <a:srgbClr val="F09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700" b="1">
                <a:solidFill>
                  <a:srgbClr val="F0997B"/>
                </a:solidFill>
                <a:latin typeface="Microsoft JhengHei"/>
              </a:rPr>
              <a:t>轉折 3 ｜ 模型→大腦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RNN 語言  →  真實神經群體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2C0B6"/>
                </a:solidFill>
                <a:latin typeface="Microsoft JhengHei"/>
              </a:rPr>
              <a:t>Barak/Romo 2013 · Sussillo 2014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892040"/>
            <a:ext cx="10972800" cy="960120"/>
          </a:xfrm>
          <a:prstGeom prst="rect">
            <a:avLst/>
          </a:prstGeom>
          <a:solidFill>
            <a:srgbClr val="1A1815"/>
          </a:solidFill>
          <a:ln w="19050">
            <a:solidFill>
              <a:srgbClr val="AFA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700" b="1">
                <a:solidFill>
                  <a:srgbClr val="AFA9EC"/>
                </a:solidFill>
                <a:latin typeface="Microsoft JhengHei"/>
              </a:rPr>
              <a:t>轉折 4 ｜ input 成為重構者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訊號  →  x₀+u(t) 指定運算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2C0B6"/>
                </a:solidFill>
                <a:latin typeface="Microsoft JhengHei"/>
              </a:rPr>
              <a:t>Driscoll/Golub/Sussillo 2018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9F27"/>
                </a:solidFill>
                <a:latin typeface="Microsoft JhengHei"/>
              </a:rPr>
              <a:t>Check-Point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你認為哪個轉折最關鍵？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FAF9F5"/>
                </a:solidFill>
                <a:latin typeface="Microsoft JhengHei"/>
              </a:rPr>
              <a:t>A. 混沌 bug→feature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5DCAA5"/>
                </a:solidFill>
                <a:latin typeface="Microsoft JhengHei"/>
              </a:rPr>
              <a:t>B. 黑盒→可解剖的動力系統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FAF9F5"/>
                </a:solidFill>
                <a:latin typeface="Microsoft JhengHei"/>
              </a:rPr>
              <a:t>C. 模型→大腦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FAF9F5"/>
                </a:solidFill>
                <a:latin typeface="Microsoft JhengHei"/>
              </a:rPr>
              <a:t>D. input 成為重構者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2C0B6"/>
                </a:solidFill>
                <a:latin typeface="Microsoft JhengHei"/>
              </a:rPr>
              <a:t>（討論題）講者觀點 B：它是支點，後三者才得以展開。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轉折 3：分析模型 → 分析大腦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377440"/>
            <a:ext cx="91440" cy="1554480"/>
          </a:xfrm>
          <a:prstGeom prst="rect">
            <a:avLst/>
          </a:prstGeom>
          <a:solidFill>
            <a:srgbClr val="F09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AF9F5"/>
                </a:solidFill>
                <a:latin typeface="Microsoft JhengHei"/>
              </a:rPr>
              <a:t>RNN 的動力系統語言（state space、trajectory、attractor）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FAF9F5"/>
                </a:solidFill>
                <a:latin typeface="Microsoft JhengHei"/>
              </a:rPr>
              <a:t>反向套回真實神經群體資料。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2C0B6"/>
                </a:solidFill>
                <a:latin typeface="Microsoft JhengHei"/>
              </a:rPr>
              <a:t>顛覆 single-neuron tuning 典範：要懂單一神經元，先懂 population。 · Barak/Romo 2013 · Sussillo 2014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轉折 4：input 成為「重構者」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400"/>
              </a:spcAft>
            </a:pPr>
            <a:r>
              <a:rPr sz="3000" b="0">
                <a:solidFill>
                  <a:srgbClr val="5DCAA5"/>
                </a:solidFill>
                <a:latin typeface="Microsoft JhengHei"/>
              </a:rPr>
              <a:t>dx/dt = F( x(t), u(t) 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840480"/>
            <a:ext cx="91440" cy="1554480"/>
          </a:xfrm>
          <a:prstGeom prst="rect">
            <a:avLst/>
          </a:prstGeom>
          <a:solidFill>
            <a:srgbClr val="AFA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840480"/>
            <a:ext cx="96926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AF9F5"/>
                </a:solidFill>
                <a:latin typeface="Microsoft JhengHei"/>
              </a:rPr>
              <a:t>輸入不只是訊號：initial condition x₀ 與 input u(t)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FAF9F5"/>
                </a:solidFill>
                <a:latin typeface="Microsoft JhengHei"/>
              </a:rPr>
              <a:t>共同指定一個運算。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2C0B6"/>
                </a:solidFill>
                <a:latin typeface="Microsoft JhengHei"/>
              </a:rPr>
              <a:t>reservoir「丟石頭進池塘」→ 為特定運算量身打造的動力系統 · Driscoll/Golub/Sussillo 2018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997B"/>
                </a:solidFill>
                <a:latin typeface="Microsoft JhengHe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我為什麼自己跑一遍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AF9F5"/>
                </a:solidFill>
                <a:latin typeface="Microsoft JhengHei"/>
              </a:rPr>
              <a:t>光看論文不夠。用 numpy + scipy 寫最小可運行版本，</a:t>
            </a:r>
          </a:p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AF9F5"/>
                </a:solidFill>
                <a:latin typeface="Microsoft JhengHei"/>
              </a:rPr>
              <a:t>圖跟數字都是真實 RLS 計算出來的——零捏造。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206240"/>
            <a:ext cx="3413759" cy="1554480"/>
          </a:xfrm>
          <a:prstGeom prst="rect">
            <a:avLst/>
          </a:prstGeom>
          <a:solidFill>
            <a:srgbClr val="1A1815"/>
          </a:solidFill>
          <a:ln w="15240">
            <a:solidFill>
              <a:srgbClr val="5DCA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5DCAA5"/>
                </a:solidFill>
                <a:latin typeface="Microsoft JhengHei"/>
              </a:rPr>
              <a:t>① sinusoid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FORCE-Output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9600" y="4206240"/>
            <a:ext cx="3413759" cy="1554480"/>
          </a:xfrm>
          <a:prstGeom prst="rect">
            <a:avLst/>
          </a:prstGeom>
          <a:solidFill>
            <a:srgbClr val="1A1815"/>
          </a:solidFill>
          <a:ln w="15240">
            <a:solidFill>
              <a:srgbClr val="F09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F0997B"/>
                </a:solidFill>
                <a:latin typeface="Microsoft JhengHei"/>
              </a:rPr>
              <a:t>② Lorenz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FORCE-Internal v3</a:t>
            </a:r>
          </a:p>
        </p:txBody>
      </p:sp>
      <p:sp>
        <p:nvSpPr>
          <p:cNvPr id="8" name="Rectangle 7"/>
          <p:cNvSpPr/>
          <p:nvPr/>
        </p:nvSpPr>
        <p:spPr>
          <a:xfrm>
            <a:off x="8199119" y="4206240"/>
            <a:ext cx="3413759" cy="1554480"/>
          </a:xfrm>
          <a:prstGeom prst="rect">
            <a:avLst/>
          </a:prstGeom>
          <a:solidFill>
            <a:srgbClr val="1A1815"/>
          </a:solidFill>
          <a:ln w="15240">
            <a:solidFill>
              <a:srgbClr val="AFA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AFA9EC"/>
                </a:solidFill>
                <a:latin typeface="Microsoft JhengHei"/>
              </a:rPr>
              <a:t>③ fixed-point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解剖 trained 網路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實驗一：sinusoid（FORCE-Output）</a:t>
            </a:r>
          </a:p>
        </p:txBody>
      </p:sp>
      <p:pic>
        <p:nvPicPr>
          <p:cNvPr id="4" name="Picture 3" descr="force_sinusoid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730" y="1737360"/>
            <a:ext cx="6694234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97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2C0B6"/>
                </a:solidFill>
                <a:latin typeface="Microsoft JhengHei"/>
              </a:rPr>
              <a:t>N=1000, g=1.5, 15 train cycles — 紅線整段覆蓋灰線，test error ±0.008 內。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判讀：誤差從第一步就小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AF9F5"/>
                </a:solidFill>
                <a:latin typeface="Microsoft JhengHei"/>
              </a:rPr>
              <a:t>•  Cycle 1   MSE = 0.000019    |W| = 0.093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FAF9F5"/>
                </a:solidFill>
                <a:latin typeface="Microsoft JhengHei"/>
              </a:rPr>
              <a:t>•  Cycle 5   MSE = 0.000048    |W| = 0.196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FAF9F5"/>
                </a:solidFill>
                <a:latin typeface="Microsoft JhengHei"/>
              </a:rPr>
              <a:t>•  Cycle 15  MSE = 0.000005    |W| = 0.251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AF9F5"/>
                </a:solidFill>
                <a:latin typeface="Microsoft JhengHei"/>
              </a:rPr>
              <a:t>•  Cycle 16 (test)  MSE = 0.000006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4937760"/>
            <a:ext cx="91440" cy="1554480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937760"/>
            <a:ext cx="96926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AF9F5"/>
                </a:solidFill>
                <a:latin typeface="Microsoft JhengHei"/>
              </a:rPr>
              <a:t>Cycle 1 就是 1.9×10⁻⁵ — 式 (7)(8) 的實證。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實驗二：Lorenz（FORCE-Internal v3）</a:t>
            </a:r>
          </a:p>
        </p:txBody>
      </p:sp>
      <p:pic>
        <p:nvPicPr>
          <p:cNvPr id="4" name="Picture 3" descr="force_internal_v3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387" y="1737360"/>
            <a:ext cx="994892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97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2C0B6"/>
                </a:solidFill>
                <a:latin typeface="Microsoft JhengHei"/>
              </a:rPr>
              <a:t>左：時序前段貼合、後段 phase divergence。右：delay-embedding 重建 Lorenz 蝴蝶。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判讀：混沌被保留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5303520" cy="2011680"/>
          </a:xfrm>
          <a:prstGeom prst="rect">
            <a:avLst/>
          </a:prstGeom>
          <a:solidFill>
            <a:srgbClr val="1A1815"/>
          </a:solidFill>
          <a:ln w="15240">
            <a:solidFill>
              <a:srgbClr val="F09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F0997B"/>
                </a:solidFill>
                <a:latin typeface="Microsoft JhengHei"/>
              </a:rPr>
              <a:t>|J|_norm: 0.168 → 0.169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全程僅變 0.7% → chaotic regime 完整保留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2377440"/>
            <a:ext cx="5303520" cy="2011680"/>
          </a:xfrm>
          <a:prstGeom prst="rect">
            <a:avLst/>
          </a:prstGeom>
          <a:solidFill>
            <a:srgbClr val="1A1815"/>
          </a:solidFill>
          <a:ln w="15240">
            <a:solidFill>
              <a:srgbClr val="EF9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EF9F27"/>
                </a:solidFill>
                <a:latin typeface="Microsoft JhengHei"/>
              </a:rPr>
              <a:t>運算靠 W 承載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|W|: 0.09 → 0.54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2C0B6"/>
                </a:solidFill>
                <a:latin typeface="Microsoft JhengHei"/>
              </a:rPr>
              <a:t>test MSE 在 cycle 32+ 衝到 0.2–0.5 是混沌 phase divergence 必然 — 判讀看 attractor，不看 point-by-point。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實驗三：fixed-point 分析（Sussillo &amp; Barak 2013 風格）</a:t>
            </a:r>
          </a:p>
        </p:txBody>
      </p:sp>
      <p:pic>
        <p:nvPicPr>
          <p:cNvPr id="4" name="Picture 3" descr="stage4_fixed_points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422" y="1737360"/>
            <a:ext cx="468685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97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2C0B6"/>
                </a:solidFill>
                <a:latin typeface="Microsoft JhengHei"/>
              </a:rPr>
              <a:t>4-panel：PC1-PC2 / PC1-PC3 / Jacobian 特徵值雲 / q-landscape。123 個 slow points。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判讀：低維 manifold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377440"/>
            <a:ext cx="91440" cy="1554480"/>
          </a:xfrm>
          <a:prstGeom prst="rect">
            <a:avLst/>
          </a:prstGeom>
          <a:solidFill>
            <a:srgbClr val="AFA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AF9F5"/>
                </a:solidFill>
                <a:latin typeface="Microsoft JhengHei"/>
              </a:rPr>
              <a:t>top-3 PC 解釋 ≈ 81% 變異（55.2% + 19.2% + 6.6%）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3272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AF9F5"/>
                </a:solidFill>
                <a:latin typeface="Microsoft JhengHei"/>
              </a:rPr>
              <a:t>高維 RNN 的運算落在低維流形上；</a:t>
            </a:r>
          </a:p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AF9F5"/>
                </a:solidFill>
                <a:latin typeface="Microsoft JhengHei"/>
              </a:rPr>
              <a:t>slow points 聚在兩個 lobe 中心 → 對應 Lorenz 的 C⁺/C⁻。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判讀：unstable saddles 驅動 lobe-switch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FAF9F5"/>
                </a:solidFill>
                <a:latin typeface="Microsoft JhengHei"/>
              </a:rPr>
              <a:t>•  特徵值雲多數在 Re≈−1（因 F=−x+… 主導）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FAF9F5"/>
                </a:solidFill>
                <a:latin typeface="Microsoft JhengHei"/>
              </a:rPr>
              <a:t>•  但有可觀部分跨過虛軸 Re=0 進入 unstable 區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FAF9F5"/>
                </a:solidFill>
                <a:latin typeface="Microsoft JhengHei"/>
              </a:rPr>
              <a:t>•  強 saddle 最多 26 個 unstable directions, max Re≈0.40</a:t>
            </a:r>
          </a:p>
          <a:p>
            <a:pPr algn="l">
              <a:spcAft>
                <a:spcPts val="1000"/>
              </a:spcAft>
            </a:pPr>
            <a:r>
              <a:rPr sz="2100" b="1">
                <a:solidFill>
                  <a:srgbClr val="FAF9F5"/>
                </a:solidFill>
                <a:latin typeface="Microsoft JhengHei"/>
              </a:rPr>
              <a:t>•  沒有 q&lt;10⁻⁷ 的真不動點 — 這是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2C0B6"/>
                </a:solidFill>
                <a:latin typeface="Microsoft JhengHei"/>
              </a:rPr>
              <a:t>RNN 用連續的 slow manifold（而非離散吸引子）在「計算」混沌。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9F27"/>
                </a:solidFill>
                <a:latin typeface="Microsoft JhengHei"/>
              </a:rPr>
              <a:t>Check-Point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RNN 找不到真正的 fixed point（q&lt;10⁻⁷），代表什麼？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FAF9F5"/>
                </a:solidFill>
                <a:latin typeface="Microsoft JhengHei"/>
              </a:rPr>
              <a:t>A. 訓練失敗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FAF9F5"/>
                </a:solidFill>
                <a:latin typeface="Microsoft JhengHei"/>
              </a:rPr>
              <a:t>B. 網路太小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5DCAA5"/>
                </a:solidFill>
                <a:latin typeface="Microsoft JhengHei"/>
              </a:rPr>
              <a:t>C. 它用連續的 slow manifold 編碼混沌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FAF9F5"/>
                </a:solidFill>
                <a:latin typeface="Microsoft JhengHei"/>
              </a:rPr>
              <a:t>D. 演算法 bug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2C0B6"/>
                </a:solidFill>
                <a:latin typeface="Microsoft JhengHei"/>
              </a:rPr>
              <a:t>（討論題）答案 C：離散答案是錯問題；slow manifold 在 N 維空間是連續的。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三實驗閉環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3383280" cy="1463040"/>
          </a:xfrm>
          <a:prstGeom prst="rect">
            <a:avLst/>
          </a:prstGeom>
          <a:solidFill>
            <a:srgbClr val="1A1815"/>
          </a:solidFill>
          <a:ln w="19050">
            <a:solidFill>
              <a:srgbClr val="5DCA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700" b="1">
                <a:solidFill>
                  <a:srgbClr val="5DCAA5"/>
                </a:solidFill>
                <a:latin typeface="Microsoft JhengHei"/>
              </a:rPr>
              <a:t>FORCE 訓練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轉折 1  →  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2C0B6"/>
                </a:solidFill>
                <a:latin typeface="Microsoft JhengHei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377440"/>
            <a:ext cx="3383280" cy="1463040"/>
          </a:xfrm>
          <a:prstGeom prst="rect">
            <a:avLst/>
          </a:prstGeom>
          <a:solidFill>
            <a:srgbClr val="1A1815"/>
          </a:solidFill>
          <a:ln w="19050">
            <a:solidFill>
              <a:srgbClr val="AFA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700" b="1">
                <a:solidFill>
                  <a:srgbClr val="AFA9EC"/>
                </a:solidFill>
                <a:latin typeface="Microsoft JhengHei"/>
              </a:rPr>
              <a:t>fixed-point 解剖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轉折 2  →  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2C0B6"/>
                </a:solidFill>
                <a:latin typeface="Microsoft Jheng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2377440"/>
            <a:ext cx="3383280" cy="1463040"/>
          </a:xfrm>
          <a:prstGeom prst="rect">
            <a:avLst/>
          </a:prstGeom>
          <a:solidFill>
            <a:srgbClr val="1A1815"/>
          </a:solidFill>
          <a:ln w="19050">
            <a:solidFill>
              <a:srgbClr val="EF9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/>
            <a:r>
              <a:rPr sz="1700" b="1">
                <a:solidFill>
                  <a:srgbClr val="EF9F27"/>
                </a:solidFill>
                <a:latin typeface="Microsoft JhengHei"/>
              </a:rPr>
              <a:t>低維 manifold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CTPD  →  微縮實證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C2C0B6"/>
                </a:solidFill>
                <a:latin typeface="Microsoft JhengHe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AF9F5"/>
                </a:solidFill>
                <a:latin typeface="Microsoft JhengHei"/>
              </a:rPr>
              <a:t>轉折 2 的方法，作用在轉折 1 的網路上，產出 CTPD 框架的縮影。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9F27"/>
                </a:solidFill>
                <a:latin typeface="Microsoft JhengHe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終點：CTPD 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377440"/>
            <a:ext cx="91440" cy="1554480"/>
          </a:xfrm>
          <a:prstGeom prst="rect">
            <a:avLst/>
          </a:prstGeom>
          <a:solidFill>
            <a:srgbClr val="EF9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926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AF9F5"/>
                </a:solidFill>
                <a:latin typeface="Microsoft JhengHei"/>
              </a:rPr>
              <a:t>Computation through Neural Population Dynamics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FAF9F5"/>
                </a:solidFill>
                <a:latin typeface="Microsoft JhengHei"/>
              </a:rPr>
              <a:t>Vyas, Golub, Sussillo &amp; Shenoy 2020, Annu. Rev. Neurosci.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06240"/>
            <a:ext cx="2468880" cy="1463040"/>
          </a:xfrm>
          <a:prstGeom prst="rect">
            <a:avLst/>
          </a:prstGeom>
          <a:solidFill>
            <a:srgbClr val="1A1815"/>
          </a:solidFill>
          <a:ln w="15240">
            <a:solidFill>
              <a:srgbClr val="EF9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EF9F27"/>
                </a:solidFill>
                <a:latin typeface="Microsoft JhengHei"/>
              </a:rPr>
              <a:t>Motor control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4206240"/>
            <a:ext cx="2468880" cy="1463040"/>
          </a:xfrm>
          <a:prstGeom prst="rect">
            <a:avLst/>
          </a:prstGeom>
          <a:solidFill>
            <a:srgbClr val="1A1815"/>
          </a:solidFill>
          <a:ln w="15240">
            <a:solidFill>
              <a:srgbClr val="EF9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EF9F27"/>
                </a:solidFill>
                <a:latin typeface="Microsoft JhengHei"/>
              </a:rPr>
              <a:t>Timing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4206240"/>
            <a:ext cx="2468880" cy="1463040"/>
          </a:xfrm>
          <a:prstGeom prst="rect">
            <a:avLst/>
          </a:prstGeom>
          <a:solidFill>
            <a:srgbClr val="1A1815"/>
          </a:solidFill>
          <a:ln w="15240">
            <a:solidFill>
              <a:srgbClr val="EF9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EF9F27"/>
                </a:solidFill>
                <a:latin typeface="Microsoft JhengHei"/>
              </a:rPr>
              <a:t>Decision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4206240"/>
            <a:ext cx="2468880" cy="1463040"/>
          </a:xfrm>
          <a:prstGeom prst="rect">
            <a:avLst/>
          </a:prstGeom>
          <a:solidFill>
            <a:srgbClr val="1A1815"/>
          </a:solidFill>
          <a:ln w="15240">
            <a:solidFill>
              <a:srgbClr val="EF9F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EF9F27"/>
                </a:solidFill>
                <a:latin typeface="Microsoft JhengHei"/>
              </a:rPr>
              <a:t>Working memory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/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一條式子貫穿全場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400"/>
              </a:spcAft>
            </a:pPr>
            <a:r>
              <a:rPr sz="3400" b="0">
                <a:solidFill>
                  <a:srgbClr val="5DCAA5"/>
                </a:solidFill>
                <a:latin typeface="Microsoft JhengHei"/>
              </a:rPr>
              <a:t>dx/dt = f( x(t), u(t) 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AF9F5"/>
                </a:solidFill>
                <a:latin typeface="Microsoft JhengHei"/>
              </a:rPr>
              <a:t>x 是 N 維神經群體狀態。神經群體就是一個動力系統，</a:t>
            </a:r>
          </a:p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AF9F5"/>
                </a:solidFill>
                <a:latin typeface="Microsoft JhengHei"/>
              </a:rPr>
              <a:t>運算透過它在 state space 的時間演化來實現。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批判：守住兩條界線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5303520" cy="2743200"/>
          </a:xfrm>
          <a:prstGeom prst="rect">
            <a:avLst/>
          </a:prstGeom>
          <a:solidFill>
            <a:srgbClr val="1A1815"/>
          </a:solidFill>
          <a:ln w="15240">
            <a:solidFill>
              <a:srgbClr val="F09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F0997B"/>
                </a:solidFill>
                <a:latin typeface="Microsoft JhengHei"/>
              </a:rPr>
              <a:t>RNN ≠ 大腦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只是「運算可以如何被解」的一個範例，非 ground truth。是 hypothesis-generating tool。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2377440"/>
            <a:ext cx="5303520" cy="2743200"/>
          </a:xfrm>
          <a:prstGeom prst="rect">
            <a:avLst/>
          </a:prstGeom>
          <a:solidFill>
            <a:srgbClr val="1A1815"/>
          </a:solidFill>
          <a:ln w="15240">
            <a:solidFill>
              <a:srgbClr val="F09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900" b="1">
                <a:solidFill>
                  <a:srgbClr val="F0997B"/>
                </a:solidFill>
                <a:latin typeface="Microsoft JhengHei"/>
              </a:rPr>
              <a:t>低維投影的陷阱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AF9F5"/>
                </a:solidFill>
                <a:latin typeface="Microsoft JhengHei"/>
              </a:rPr>
              <a:t>2D/3D 投影幾乎可 fit 任何假設 → 必須在高維（10–20 維）量化。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哲學底色：Emergence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377440"/>
            <a:ext cx="91440" cy="1554480"/>
          </a:xfrm>
          <a:prstGeom prst="rect">
            <a:avLst/>
          </a:prstGeom>
          <a:solidFill>
            <a:srgbClr val="EF9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AF9F5"/>
                </a:solidFill>
                <a:latin typeface="Microsoft JhengHei"/>
              </a:rPr>
              <a:t>Conway's Game of Life：簡單規則 → 複雜湧現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2C0B6"/>
                </a:solidFill>
                <a:latin typeface="Microsoft JhengHei"/>
              </a:rPr>
              <a:t>Sussillo 2026 Q&amp;A 自述為終生母題。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AF9F5"/>
                </a:solidFill>
                <a:latin typeface="Microsoft JhengHei"/>
              </a:rPr>
              <a:t>運算從大量簡單單元的集體動力中湧現，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FAF9F5"/>
                </a:solidFill>
                <a:latin typeface="Microsoft JhengHei"/>
              </a:rPr>
              <a:t>而非定位於單一元件 — 即 population dynamics 的信念。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帶走三句話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FAF9F5"/>
                </a:solidFill>
                <a:latin typeface="Microsoft JhengHei"/>
              </a:rPr>
              <a:t>•  FORCE 用 P 矩陣在第一步把誤差打到近乎零 → 保留並馴服混沌。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FAF9F5"/>
                </a:solidFill>
                <a:latin typeface="Microsoft JhengHei"/>
              </a:rPr>
              <a:t>•  真正生出 CTPD 的，是把 RNN 當動力系統來解剖（fixed points）。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FAF9F5"/>
                </a:solidFill>
                <a:latin typeface="Microsoft JhengHei"/>
              </a:rPr>
              <a:t>•  高維神經運算落在低維 manifold，由 fixed/slow points 的幾何決定。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AF9F5"/>
                </a:solidFill>
                <a:latin typeface="Microsoft JhengHei"/>
              </a:rPr>
              <a:t>延伸閱讀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FAF9F5"/>
                </a:solidFill>
                <a:latin typeface="Microsoft JhengHei"/>
              </a:rPr>
              <a:t>•  Sussillo &amp; Abbott 2009 · Neuron — FORCE learning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FAF9F5"/>
                </a:solidFill>
                <a:latin typeface="Microsoft JhengHei"/>
              </a:rPr>
              <a:t>•  Sussillo &amp; Barak 2013 · Neural Computation — Opening the Black Box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FAF9F5"/>
                </a:solidFill>
                <a:latin typeface="Microsoft JhengHei"/>
              </a:rPr>
              <a:t>•  Sussillo 2014 · Curr. Opin. Neurobiol. — Circuits as dynamical systems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FAF9F5"/>
                </a:solidFill>
                <a:latin typeface="Microsoft JhengHei"/>
              </a:rPr>
              <a:t>•  Driscoll, Golub &amp; Sussillo 2018 · Neuron — Computation through Cortical Dynamics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FAF9F5"/>
                </a:solidFill>
                <a:latin typeface="Microsoft JhengHei"/>
              </a:rPr>
              <a:t>•  Vyas, Golub, Sussillo &amp; Shenoy 2020 · Annu. Rev. Neurosci. — CTPD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2C0B6"/>
                </a:solidFill>
                <a:latin typeface="Microsoft JhengHei"/>
              </a:rPr>
              <a:t>三張圖皆由 numpy/scipy 實際計算產生（基於 Sussillo &amp; Abbott 2009 最小重現），零捏造。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